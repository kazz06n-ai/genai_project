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Roboto" panose="02000000000000000000" pitchFamily="2" charset="0"/>
      <p:regular r:id="rId13"/>
    </p:embeddedFont>
    <p:embeddedFont>
      <p:font typeface="Roboto Slab" panose="020F0502020204030204" pitchFamily="2" charset="0"/>
      <p:regular r:id="rId14"/>
    </p:embeddedFont>
    <p:embeddedFont>
      <p:font typeface="Roboto Slab Light" pitchFamily="2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3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633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87297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GenAI Cybersecurity Threat Reporter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630698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Local RAG-Powered Intelligence System for Automated Threat Analysis and Reporting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705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Executive Summary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528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Project Vision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033957"/>
            <a:ext cx="6244709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system leverages Retrieval-Augmented Generation (RAG) to transform raw threat intelligence into actionable security reports. By combining local LLM processing with vector database retrieval, it delivers real-time threat assessments without cloud dependencies.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34528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Technical Stack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599521" y="4033957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Ollama (Gemma-4)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Local LLM for threat analysis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LangChain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RAG pipeline orchestration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ChromaDB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Vectorized threat knowledge base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Streamlit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Interactive reporting interface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E93FE2-C009-EA1B-D9DE-650D17DE66EC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3393" y="724019"/>
            <a:ext cx="7730014" cy="1262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Problem Statement: The Cybersecurity Crisis</a:t>
            </a:r>
            <a:endParaRPr lang="en-US" sz="3950" dirty="0"/>
          </a:p>
        </p:txBody>
      </p:sp>
      <p:sp>
        <p:nvSpPr>
          <p:cNvPr id="4" name="Text 1"/>
          <p:cNvSpPr/>
          <p:nvPr/>
        </p:nvSpPr>
        <p:spPr>
          <a:xfrm>
            <a:off x="6193393" y="2357318"/>
            <a:ext cx="3752612" cy="666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200"/>
              </a:lnSpc>
              <a:buNone/>
            </a:pPr>
            <a:r>
              <a:rPr lang="en-US" sz="5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236%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6807041" y="3259812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Attack Growth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6193393" y="3683317"/>
            <a:ext cx="37526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Year-over-year increase in ransomware attacks (2023)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170795" y="2357318"/>
            <a:ext cx="3752612" cy="666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200"/>
              </a:lnSpc>
              <a:buNone/>
            </a:pPr>
            <a:r>
              <a:rPr lang="en-US" sz="5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8M+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10784443" y="3259812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Daily Threats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0170795" y="3683317"/>
            <a:ext cx="3752612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Unique malware variants detected daily worldwide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182094" y="4755118"/>
            <a:ext cx="3752612" cy="6666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200"/>
              </a:lnSpc>
              <a:buNone/>
            </a:pPr>
            <a:r>
              <a:rPr lang="en-US" sz="5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287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8795742" y="5657612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Days to Detect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8182094" y="6081117"/>
            <a:ext cx="3752612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Average time to identify security breaches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193393" y="6589038"/>
            <a:ext cx="7730014" cy="916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teams face information overload with fragmented threat intelligence sources. Manual analysis delays response times, creating critical security gaps that sophisticated attackers exploit.</a:t>
            </a:r>
            <a:endParaRPr lang="en-US" sz="155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82075A-3AEF-2C30-3C5D-7E2617C2DA5C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13272"/>
            <a:ext cx="817054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System Architecture Overview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920" y="2575679"/>
            <a:ext cx="11714440" cy="42406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17850" y="5781186"/>
            <a:ext cx="2934582" cy="366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Retrieval Layer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2317850" y="4503013"/>
            <a:ext cx="2934582" cy="366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Vectorization Layer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2317850" y="3211796"/>
            <a:ext cx="2934582" cy="366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Ingestion Layer</a:t>
            </a:r>
            <a:endParaRPr lang="en-US" sz="23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A8DC05-D3AB-2F48-14EF-FE4BA4D179C0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53622"/>
            <a:ext cx="103964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Stage 1: Data Ingestion &amp; Preprocessing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629376"/>
            <a:ext cx="346221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Intelligent Data Collection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210520"/>
            <a:ext cx="760428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ingestion layer automatically harvests threat intelligence from multiple authoritative sources including CVE databases, security advisories, MITRE ATT&amp;CK framework, and dark web monitoring feeds.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526042"/>
            <a:ext cx="306728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Preprocessing Pipeline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5107186"/>
            <a:ext cx="7604284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Text normalization and cleaning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Entity extraction (CVE IDs, threat actors)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Severity classification tagging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Temporal metadata enrichment</a:t>
            </a:r>
            <a:endParaRPr lang="en-US" sz="17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9096" y="3255169"/>
            <a:ext cx="4885015" cy="276808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41F1EB7-4CBB-36A5-5635-BC64BC6A19B4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0660" y="749022"/>
            <a:ext cx="7655481" cy="132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Stage 2: Vectorization with LangChain</a:t>
            </a:r>
            <a:endParaRPr lang="en-US" sz="4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660" y="2376964"/>
            <a:ext cx="1063228" cy="127587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493198" y="2589609"/>
            <a:ext cx="2658070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Document Loading</a:t>
            </a:r>
            <a:endParaRPr lang="en-US" sz="2050" dirty="0"/>
          </a:p>
        </p:txBody>
      </p:sp>
      <p:sp>
        <p:nvSpPr>
          <p:cNvPr id="6" name="Text 2"/>
          <p:cNvSpPr/>
          <p:nvPr/>
        </p:nvSpPr>
        <p:spPr>
          <a:xfrm>
            <a:off x="7493198" y="3041452"/>
            <a:ext cx="6392942" cy="329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LangChain loaders parse structured and unstructured threat data</a:t>
            </a:r>
            <a:endParaRPr lang="en-US" sz="16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0660" y="3652838"/>
            <a:ext cx="1063228" cy="127587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493198" y="3865483"/>
            <a:ext cx="2658070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Text Chunking</a:t>
            </a:r>
            <a:endParaRPr lang="en-US" sz="2050" dirty="0"/>
          </a:p>
        </p:txBody>
      </p:sp>
      <p:sp>
        <p:nvSpPr>
          <p:cNvPr id="9" name="Text 4"/>
          <p:cNvSpPr/>
          <p:nvPr/>
        </p:nvSpPr>
        <p:spPr>
          <a:xfrm>
            <a:off x="7493198" y="4317325"/>
            <a:ext cx="6392942" cy="329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Intelligent segmentation preserving threat context and relationships</a:t>
            </a:r>
            <a:endParaRPr lang="en-US" sz="16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660" y="4928711"/>
            <a:ext cx="1063228" cy="127587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493198" y="5141357"/>
            <a:ext cx="2895124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Embedding Generation</a:t>
            </a:r>
            <a:endParaRPr lang="en-US" sz="2050" dirty="0"/>
          </a:p>
        </p:txBody>
      </p:sp>
      <p:sp>
        <p:nvSpPr>
          <p:cNvPr id="12" name="Text 6"/>
          <p:cNvSpPr/>
          <p:nvPr/>
        </p:nvSpPr>
        <p:spPr>
          <a:xfrm>
            <a:off x="7493198" y="5593199"/>
            <a:ext cx="6392942" cy="329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Gemma-4 transforms text into 768-dimensional semantic vectors</a:t>
            </a:r>
            <a:endParaRPr lang="en-US" sz="16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0660" y="6204585"/>
            <a:ext cx="1063228" cy="127587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493198" y="6417231"/>
            <a:ext cx="2658070" cy="332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Vector Storage</a:t>
            </a:r>
            <a:endParaRPr lang="en-US" sz="2050" dirty="0"/>
          </a:p>
        </p:txBody>
      </p:sp>
      <p:sp>
        <p:nvSpPr>
          <p:cNvPr id="15" name="Text 8"/>
          <p:cNvSpPr/>
          <p:nvPr/>
        </p:nvSpPr>
        <p:spPr>
          <a:xfrm>
            <a:off x="7493198" y="6869073"/>
            <a:ext cx="6392942" cy="3295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ChromaDB indexes vectors for efficient similarity search</a:t>
            </a:r>
            <a:endParaRPr lang="en-US" sz="16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68EF3F-4A04-B8D1-AE14-DA9880BF506B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23142"/>
            <a:ext cx="850463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Stage 3: RAG Pipeline Execution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485549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01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840593"/>
            <a:ext cx="4196358" cy="3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3014901"/>
            <a:ext cx="287952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Query Understanding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3505319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queries are parsed and enriched with security context using LangChain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5216962" y="2485549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02</a:t>
            </a:r>
            <a:endParaRPr lang="en-US" sz="1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2840593"/>
            <a:ext cx="4196358" cy="30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6962" y="3014901"/>
            <a:ext cx="326386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Vector Similarity Search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216962" y="3505319"/>
            <a:ext cx="419635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ChromaDB performs approximate nearest-neighbor search across threat vectors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9640133" y="2485549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03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2863215"/>
            <a:ext cx="4196358" cy="30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40133" y="301490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Context Retrieval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640133" y="3505319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Top-k relevant threat documents are retrieved with semantic relevance scores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793790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04</a:t>
            </a:r>
            <a:endParaRPr lang="en-US" sz="17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5323165"/>
            <a:ext cx="6407944" cy="30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3790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LLM Generation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793790" y="6010632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Gemma-4 synthesizes retrieved context into coherent threat reports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7428548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05</a:t>
            </a:r>
            <a:endParaRPr lang="en-US" sz="17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8548" y="5323165"/>
            <a:ext cx="6407944" cy="304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28548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Report Formatting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428548" y="6010632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Streamlit renders structured reports with risk assessments and mitigation steps</a:t>
            </a:r>
            <a:endParaRPr lang="en-US" sz="17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146421-EF35-E420-7561-059FB06100B9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641985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UI Design: Threat Intelligence Dashboard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626519"/>
            <a:ext cx="350150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Streamlit Interface Features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3561993"/>
            <a:ext cx="3501509" cy="394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Natural language query input with autocomplete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report generation with streaming output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Interactive threat timeline visualization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Export options (PDF, JSON, Markdown)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Dark mode optimized for security operations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4856321" y="262651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Key Functionalities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856321" y="3207663"/>
            <a:ext cx="3501509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enables analysts to query threat databases using plain English, compare multiple threats side-by-side, and generate comprehensive reports with risk scores, affected systems, and recommended mitigation strategies in seconds.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4232" y="393144"/>
            <a:ext cx="6087308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Sample Threat Report: CVE Analysis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2424232" y="1013341"/>
            <a:ext cx="9781937" cy="768787"/>
          </a:xfrm>
          <a:prstGeom prst="roundRect">
            <a:avLst>
              <a:gd name="adj" fmla="val 2766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916" y="1157526"/>
            <a:ext cx="221456" cy="1771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929057" y="1137285"/>
            <a:ext cx="461712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Report: Remote Code Execution in Apache HTTP Server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929057" y="1447324"/>
            <a:ext cx="9135428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CVE-2024-1234</a:t>
            </a: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| Critical Severity | CVSS Score: 9.8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24232" y="1915001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Threat Summary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424232" y="2269331"/>
            <a:ext cx="9781937" cy="368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Apache HTTP Server versions 2.4.52 through 2.4.58 contain a critical vulnerability allowing remote attackers to execute arbitrary code via crafted HTTP requests. Exploitation requires only network access to vulnerable servers.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24232" y="2770823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Affected Systems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2424232" y="3125153"/>
            <a:ext cx="9781937" cy="614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Apache HTTP Server 2.4.52-2.4.58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infrastructure deployments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web servers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424232" y="3872865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Risk Assessment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970139" y="5148620"/>
            <a:ext cx="174367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95%</a:t>
            </a:r>
            <a:endParaRPr lang="en-US" sz="27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806" y="4262557"/>
            <a:ext cx="2126456" cy="2126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55971" y="651295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Exploit Likelihood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8916472" y="5148620"/>
            <a:ext cx="174367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9.8</a:t>
            </a:r>
            <a:endParaRPr lang="en-US" sz="27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138" y="4262557"/>
            <a:ext cx="2126456" cy="2126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02303" y="651295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CVSS Score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2424232" y="686728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Mitigation Steps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2424232" y="7221617"/>
            <a:ext cx="9781937" cy="614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450"/>
              </a:lnSpc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Upgrade to Apache 2.4.59 or later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Font typeface="+mj-lt"/>
              <a:buAutoNum type="arabicPeriod" startAt="2"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WAF rules blocking malicious patterns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Font typeface="+mj-lt"/>
              <a:buAutoNum type="arabicPeriod" startAt="3"/>
            </a:pPr>
            <a:r>
              <a:rPr lang="en-US" sz="11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Implement network segmentation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FA9D8E-23AA-BC74-D059-5DC54345077E}"/>
              </a:ext>
            </a:extLst>
          </p:cNvPr>
          <p:cNvSpPr/>
          <p:nvPr/>
        </p:nvSpPr>
        <p:spPr>
          <a:xfrm>
            <a:off x="12639675" y="7696200"/>
            <a:ext cx="1990725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9846" y="880467"/>
            <a:ext cx="7712035" cy="598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Project Impact &amp; Future Directions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669846" y="1720691"/>
            <a:ext cx="3821430" cy="2360533"/>
          </a:xfrm>
          <a:prstGeom prst="roundRect">
            <a:avLst>
              <a:gd name="adj" fmla="val 1216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179" y="1912025"/>
            <a:ext cx="574119" cy="574119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9056" y="2069902"/>
            <a:ext cx="258366" cy="25836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61179" y="2647593"/>
            <a:ext cx="272879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Performance Advantage</a:t>
            </a:r>
            <a:endParaRPr lang="en-US" sz="1850" dirty="0"/>
          </a:p>
        </p:txBody>
      </p:sp>
      <p:sp>
        <p:nvSpPr>
          <p:cNvPr id="8" name="Text 3"/>
          <p:cNvSpPr/>
          <p:nvPr/>
        </p:nvSpPr>
        <p:spPr>
          <a:xfrm>
            <a:off x="861179" y="3043357"/>
            <a:ext cx="3438763" cy="846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RAG processing eliminates cloud latency, enabling real-time threat response without data privacy concerns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4652724" y="1720691"/>
            <a:ext cx="3821430" cy="2360533"/>
          </a:xfrm>
          <a:prstGeom prst="roundRect">
            <a:avLst>
              <a:gd name="adj" fmla="val 1216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4058" y="1912025"/>
            <a:ext cx="574119" cy="574119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1935" y="2069902"/>
            <a:ext cx="258366" cy="25836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844058" y="2647593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Security First</a:t>
            </a:r>
            <a:endParaRPr lang="en-US" sz="1850" dirty="0"/>
          </a:p>
        </p:txBody>
      </p:sp>
      <p:sp>
        <p:nvSpPr>
          <p:cNvPr id="13" name="Text 6"/>
          <p:cNvSpPr/>
          <p:nvPr/>
        </p:nvSpPr>
        <p:spPr>
          <a:xfrm>
            <a:off x="4844058" y="3043357"/>
            <a:ext cx="3438763" cy="846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On-premise deployment ensures sensitive threat intelligence never leaves organizational networks</a:t>
            </a:r>
            <a:endParaRPr lang="en-US" sz="1500" dirty="0"/>
          </a:p>
        </p:txBody>
      </p:sp>
      <p:sp>
        <p:nvSpPr>
          <p:cNvPr id="14" name="Shape 7"/>
          <p:cNvSpPr/>
          <p:nvPr/>
        </p:nvSpPr>
        <p:spPr>
          <a:xfrm>
            <a:off x="669846" y="4242673"/>
            <a:ext cx="7804309" cy="2078355"/>
          </a:xfrm>
          <a:prstGeom prst="roundRect">
            <a:avLst>
              <a:gd name="adj" fmla="val 1381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179" y="4434007"/>
            <a:ext cx="574119" cy="574119"/>
          </a:xfrm>
          <a:prstGeom prst="rect">
            <a:avLst/>
          </a:prstGeom>
        </p:spPr>
      </p:pic>
      <p:pic>
        <p:nvPicPr>
          <p:cNvPr id="1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9056" y="4591883"/>
            <a:ext cx="258366" cy="25836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861179" y="5169575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Future Roadmap</a:t>
            </a:r>
            <a:endParaRPr lang="en-US" sz="1850" dirty="0"/>
          </a:p>
        </p:txBody>
      </p:sp>
      <p:sp>
        <p:nvSpPr>
          <p:cNvPr id="18" name="Text 9"/>
          <p:cNvSpPr/>
          <p:nvPr/>
        </p:nvSpPr>
        <p:spPr>
          <a:xfrm>
            <a:off x="861179" y="5565338"/>
            <a:ext cx="7421642" cy="564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Integration with SIEM platforms, automated incident response, and predictive threat modeling using temporal analysis</a:t>
            </a:r>
            <a:endParaRPr lang="en-US" sz="1500" dirty="0"/>
          </a:p>
        </p:txBody>
      </p:sp>
      <p:sp>
        <p:nvSpPr>
          <p:cNvPr id="19" name="Text 10"/>
          <p:cNvSpPr/>
          <p:nvPr/>
        </p:nvSpPr>
        <p:spPr>
          <a:xfrm>
            <a:off x="669846" y="6502598"/>
            <a:ext cx="7804309" cy="846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project demonstrates the feasibility of local AI-powered threat intelligence systems, providing organizations with enterprise-grade security analytics without cloud dependencies or data privacy risks.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590</Words>
  <Application>Microsoft Office PowerPoint</Application>
  <PresentationFormat>Custom</PresentationFormat>
  <Paragraphs>103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Roboto</vt:lpstr>
      <vt:lpstr>Arial</vt:lpstr>
      <vt:lpstr>Roboto Slab Light</vt:lpstr>
      <vt:lpstr>Roboto Slab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Piyush Singh Negi</cp:lastModifiedBy>
  <cp:revision>2</cp:revision>
  <dcterms:created xsi:type="dcterms:W3CDTF">2026-04-19T06:49:46Z</dcterms:created>
  <dcterms:modified xsi:type="dcterms:W3CDTF">2026-04-19T07:45:34Z</dcterms:modified>
</cp:coreProperties>
</file>